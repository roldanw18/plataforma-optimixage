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Abrir con presencia profesional y dejar claro el marco (empresa, proyecto, rol).
TIEMPO: 0:45.
GUION: "Buenas, soy Wbeimar. Durante mi práctica en Optimixage desarrollé esta plataforma full-stack de seguimiento de proyectos. Hoy les mostraré no solo el sistema, sino lo que construí, resolví y aprendí."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Posicionarme como autor real del trabajo, no un observador.
TIEMPO: 1:00.
GUION: Recalcar el dato objetivo de 72/76 commits — yo fui el ejecutor del producto, con supervisión de la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Que el jurado entienda el negocio y por qué el proyecto importa.
TIEMPO: 1:00.
GUION: Las 5 etapas son el dominio del negocio; todo el sistema gira en torno a hacerlas visibles para 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Justificar la necesidad del proyecto con problemas concretos.
TIEMPO: 1:00.
GUION: Estos seis dolores definieron los requisitos. Cada funcionalidad que verán responde a uno de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Enunciar la meta y sus cuatro pilares medibles.
TIEMPO: 0:50.
GUION: Estos cuatro pilares son la vara con la que mido el éxito del proyecto en la diapositiva de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que el trabajo partió de un backlog formal, no de improvisación.
TIEMPO: 1:00.
GUION: Expliqué el encargo como producto: lo dividí en adquisición de conocimiento (KA), trabajos técnicos (TW) e historias de usuario (US). Cada ítem tiene criterios de aceptación y referencias.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Relacionar explícitamente el backlog con los 3 sprints.
TIEMPO: 1:00.
GUION: Cada sprint cierra un lote del backlog. El Sprint 1 son los fundamentos, el 2 el core del negocio, el 3 la profesionalización. Lo que sigue es la ejecución de este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Demostrar pensamiento arquitectónico (capas + preocupaciones transversales).
TIEMPO: 1:30.
GUION: Explicar el flujo: el navegador manda el JWT, FastAPI valida CORS y rol, el service usa el ORM y SQLAlchemy traduce a SQL. El backend es stateless: por eso escala en horizontal.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dominio de un stack moderno y por qué cada pieza.
TIEMPO: 1:15.
GUION: No memoricé tecnologías: las elegí por una razón. FastAPI por tipado y docs automáticas; Supabase por Postgres gestionado; Docker por reproducibilidad. Si preguntan por una, justifico la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que manejo el entorno profesional de desarrollo, no solo el lenguaje.
TIEMPO: 0:50.
GUION: Diferenciar herramientas (cómo trabajo) de tecnologías (de qué está hecho el producto). Destacar GitHub Actions, Docker y Supabase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Demostrar disciplina de versionado profesional (no commitear todo a main).
TIEMPO: 1:00.
GUION: Expliqué el flujo: trabajo en una rama de feature, integro a develop, y solo lo estable llega a main. Es la base de un trabajo en equipo ordenado.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que arranqué por los cimientos correctos (arquitectura, datos, seguridad, CI).
TIEMPO: 1:15.
GUION: El Sprint 1 no produjo features vistosas, sino la base sobre la que se sostiene todo. Destacar las decisiones de arquitectura y los dos retos resueltos.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Evidenciar el resultado tangible del Sprint 1.
TIEMPO: 0:45.
GUION: Mostrar el login y el pipeline en verde; reemplazar estos marcos por capturas reales antes de la sustentación.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el sprint donde nace el valor del producto (el proceso de 5 etapas).
TIEMPO: 1:15.
GUION: Este es el core del negocio. Explicar el cambio de etapa, el % de avance y la auditoría como la trazabilidad que la empresa no tenía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Evidenciar el core funcionando de extremo a extremo.
TIEMPO: 0:45.
GUION: La captura clave es el cambio de etapa y cómo el dashboard del cliente lo refleja al instante.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la madurez del producto y los retos más técnicos (migración a la nube, i18n).
TIEMPO: 1:15.
GUION: Aquí el producto se profesionaliza. Destacar la migración a Postgres en la nube y el refactor de i18n como decisiones de ingeniería, no solo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Evidenciar la profesionalización del producto.
TIEMPO: 0:45.
GUION: Mostrar el cambio de idioma en vivo y la vista móvil; son las pruebas más visuales del valor añadido.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una decisión técnica de peso y cómo la ejecuté.
TIEMPO: 1:00.
GUION: La migración no fue trivial: cambiaron los tipos (UUID) y necesité que el esquema se reparara solo al arrancar. Es el paso que volvió el producto realmente desplegable, no atado a mi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El corazón de la defensa — qué hice YO, con evidencia.
TIEMPO: 1:30.
GUION: Apoyarme en el dato incontestable (72/76 commits) y en verbos de acción: construí, diseñé, desplegué, propuse, documenté. Diferenciar lo heredado (scaffolding inicial y maquetas) de lo que implementé.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el salto profesional, no solo el técnico.
TIEMPO: 1:00.
GUION: La práctica me llevó de aprender tecnologías sueltas a entregar un producto completo aplicando SCRUM y comunicándome con la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resultados concretos y verificables (evito métricas no comprobables).
TIEMPO: 1:00.
ADVERTENCIA: Si preguntan por cobertura, el dato auditable es el gate de CI (60%). No defender el 85%/99.5% de los reportes de gestión como hechos: eran objetivos, no mediciones.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reflexión y metacognición — aprendí del proceso, no solo del código.
TIEMPO: 1:00.
GUION: La cuarta lección es la más potente: ser capaz de auditar mi propio trabajo y reconocer pendientes es señal de criterio de ingeniero.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una afirmación de valor memorable.
TIEMPO: 1:00.
GUION: Rematar con la frase del recuadro. Es la idea que quiero que el jurado retenga: pasé de aprender a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Abrir el turno de preguntas con calma y seguridad.
TIEMPO: restante (10–15 min).
GUION: Tener a mano las respuestas preparadas (Fase 2 del informe). Ante seguridad o métricas, responder con honestidad: conozco mis pendientes y mis datos verificables.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S.A.S.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de Seguimiento de Proyectos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41248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de Práctica Profesional · Ingeniería de Software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3886200"/>
            <a:ext cx="4754880" cy="0"/>
          </a:xfrm>
          <a:prstGeom prst="line">
            <a:avLst/>
          </a:prstGeom>
          <a:noFill/>
          <a:ln w="12700">
            <a:solidFill>
              <a:srgbClr val="3A53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Practicante: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Wbeimar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41248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· React 19 · PostgreSQL/Supabase · Docker · GitHub Actions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sprints · marzo – mayo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SOY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Presentación personal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474720" cy="4480560"/>
          </a:xfrm>
          <a:prstGeom prst="roundRect">
            <a:avLst>
              <a:gd name="adj" fmla="val 263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91640" y="1965960"/>
            <a:ext cx="1188720" cy="11887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2267712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Wbeimar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3703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Practicante de Ingeniería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Software — Desarrollo Full-Stack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72 / 76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commits del proyecto son míos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343400" y="169164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1691640"/>
            <a:ext cx="73152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18013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0" y="2093976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principal del producto (backend, frontend, BD y DevOps).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43400" y="2770632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43400" y="2770632"/>
            <a:ext cx="73152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0" y="2880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0" y="3172968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software real, no prototipos: portable, versionado y desplegable.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43400" y="3849624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43400" y="3849624"/>
            <a:ext cx="73152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0" y="39593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trabajo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0" y="425196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con sprints documentados; iniciativa proactiva para añadir valor.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343400" y="4928616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43400" y="4928616"/>
            <a:ext cx="73152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0" y="50383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la práctica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0" y="53309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aprender tecnologías a entregar un producto de extremo a extremo.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empresa y el encargo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Optimixage S.A.S.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Consultora que acompaña a sus clientes a lo largo de proyectos por etapas. La relación con el cliente es el activo central del negocio.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333756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33375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384962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384962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436168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43616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6112" y="4873752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48737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6112" y="5385816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385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538581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encargo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228600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desde cero una plataforma web que centralice el seguimiento de cada proyecto y la comunicación con el cliente.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avance, documentos y mensajes vivían dispersos en correos, llamadas y archivos sueltos.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sistema, con roles, trazabilidad y visibilidad en tiempo real.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que identifiqué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7282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0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plataforma, la consultora no podía dar visibilidad ni trazabilidad del avance — y el cliente quedaba a ciegas entre reuniones.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606040"/>
            <a:ext cx="352044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1729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Avance, documentos y mensajes repartidos en correos y archivos sueltos.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15968" y="26060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5968" y="2606040"/>
            <a:ext cx="352044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4544568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44568" y="31729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saber quién cambió qué y cuándo en el proyecto.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83296" y="26060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83296" y="2606040"/>
            <a:ext cx="352044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8311896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frágil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11896" y="31729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canal único; el cliente perdía contexto entre reuniones.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4297680"/>
            <a:ext cx="352044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acceso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7724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había forma de que cada cliente viera solo lo suyo.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315968" y="42976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15968" y="4297680"/>
            <a:ext cx="352044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4"/>
          <p:cNvSpPr/>
          <p:nvPr/>
        </p:nvSpPr>
        <p:spPr>
          <a:xfrm>
            <a:off x="4544568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manual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544568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actualización dependía de enviar correos a mano.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083296" y="42976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083296" y="4297680"/>
            <a:ext cx="352044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8"/>
          <p:cNvSpPr/>
          <p:nvPr/>
        </p:nvSpPr>
        <p:spPr>
          <a:xfrm>
            <a:off x="8311896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reproducible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311896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empaquetado: difícil de instalar, versionar o desplegar.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del proyecto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7830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Desarrollar una plataforma web full-stack, segura y reproducible, que centralice el seguimiento de proyectos por etapas y la comunicación entre la consultora y sus clientes.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463040" y="35204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368503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" y="48463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JWT, roles y control de acceso por usuario.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328416" y="3246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42816" y="35204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685032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65576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Centralización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511296" y="48463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Proyectos, documentos, chat, reuniones y notificaciones en un lugar.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08192" y="3246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22592" y="35204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3685032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45352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291072" y="48463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etapas y auditoría de cada cambio relevante.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887968" y="3246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802368" y="35204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3685032"/>
            <a:ext cx="448056" cy="4480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25128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9070848" y="48463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CI/CD y despliegue en la nube (Supabase).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Backlog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Desglosé el encargo en ítems con criterios de aceptación y 3 referencias cada uno, agrupados en tres categorías.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6903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057400"/>
            <a:ext cx="82296" cy="1234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2037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· Adquisición de conocimiento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52160" y="22037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ítems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56946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KA01 Stack tecnológico · KA02 Autenticación · KA03 Almacenamiento de archivos.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6903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383280"/>
            <a:ext cx="82296" cy="1234440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5295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· Trabajos técnicos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52160" y="35295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ítems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389534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TW01 Arquitectura · TW02 Modelo ER · TW03 DevOps/Seguridad · TW04 Control de versiones · TW05–06 CI y Docker · TW07–09 Responsive, optimización y despliegue.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709160"/>
            <a:ext cx="6903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4709160"/>
            <a:ext cx="82296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8554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Historias de usuario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852160" y="48554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ítems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" y="522122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US01–02 Autenticación y roles · US03–08 Proyectos, proceso de 5 etapas y dashboard · US09–14 Documentos, mensajería, perfil y reuniones.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726680" y="2057400"/>
            <a:ext cx="3913632" cy="3246120"/>
          </a:xfrm>
          <a:prstGeom prst="roundRect">
            <a:avLst>
              <a:gd name="adj" fmla="val 1690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772400" y="2103120"/>
            <a:ext cx="3822192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27848" y="218541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26" name="Shape 23"/>
          <p:cNvSpPr/>
          <p:nvPr/>
        </p:nvSpPr>
        <p:spPr>
          <a:xfrm>
            <a:off x="8110728" y="218541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27" name="Shape 24"/>
          <p:cNvSpPr/>
          <p:nvPr/>
        </p:nvSpPr>
        <p:spPr>
          <a:xfrm>
            <a:off x="8293608" y="218541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64" y="3314700"/>
            <a:ext cx="512064" cy="51206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909560" y="3881628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del backlog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7818120" y="534924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 KA / TW / US con criterios de aceptación.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Sprints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3077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63040"/>
            <a:ext cx="11000232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4533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54533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154533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1943100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251002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/ tablero de sprints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246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backlog en 3 sprints con fechas.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7947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011680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ítems del backlog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724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+ CI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6868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KA01–03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TW01–04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US01–02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315968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15968" y="37947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2E6FB7"/>
          </a:solidFill>
          <a:ln/>
        </p:spPr>
      </p:sp>
      <p:sp>
        <p:nvSpPr>
          <p:cNvPr id="22" name="Text 19"/>
          <p:cNvSpPr/>
          <p:nvPr/>
        </p:nvSpPr>
        <p:spPr>
          <a:xfrm>
            <a:off x="4544568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5779008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ítems + 5 adelantados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44568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Core del negocio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636008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US03–08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TW05–06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083296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083296" y="37947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0B1F3A"/>
          </a:solidFill>
          <a:ln/>
        </p:spPr>
      </p:sp>
      <p:sp>
        <p:nvSpPr>
          <p:cNvPr id="28" name="Text 25"/>
          <p:cNvSpPr/>
          <p:nvPr/>
        </p:nvSpPr>
        <p:spPr>
          <a:xfrm>
            <a:off x="8311896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546336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Profesionalización y nube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311896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+ CD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403336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US09–14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TW07–09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la solución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SPA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21214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· React Router · Axios · i18n (ES/EN/PT)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60020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del usuario (admin / cliente)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206240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145536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3511296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48456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33467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API REST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600200" y="37124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11 routers · ~33 endpoints · servicios · JWT + RBAC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600200" y="40142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y seguridad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206240" y="4480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4736592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510235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39512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00200" y="4937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600200" y="5303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· 13 tablas · UUID · auditoría · Alembic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600200" y="5605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y trazabilidad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503920" y="1554480"/>
            <a:ext cx="3136392" cy="4370832"/>
          </a:xfrm>
          <a:prstGeom prst="roundRect">
            <a:avLst>
              <a:gd name="adj" fmla="val 233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77824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Transversal</a:t>
            </a:r>
            <a:endParaRPr lang="en-US" sz="1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313432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9828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roles</a:t>
            </a:r>
            <a:endParaRPr lang="en-US" sz="12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02666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098280" y="2999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horizontal</a:t>
            </a:r>
            <a:endParaRPr lang="en-US" sz="12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373989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98280" y="37124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Orígenes controlados</a:t>
            </a:r>
            <a:endParaRPr lang="en-US" sz="12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4453128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098280" y="44256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servicios + healthchecks</a:t>
            </a:r>
            <a:endParaRPr lang="en-US" sz="12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5166360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098280" y="5138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build automáticos</a:t>
            </a:r>
            <a:endParaRPr lang="en-US" sz="1250" dirty="0"/>
          </a:p>
        </p:txBody>
      </p:sp>
      <p:sp>
        <p:nvSpPr>
          <p:cNvPr id="38" name="Text 2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92808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39112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947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2 · Pydantic · Alembic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15968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1892808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39112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8968" y="1947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90288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8 · React Router · Tailwind v4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83296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1892808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39112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26296" y="1947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57616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Supabase · SQLite (tests)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041648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187952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40965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2296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(python-jose) · bcrypt · RBAC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15968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90288" y="4041648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187952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58968" y="40965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4590288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· ES / EN / PT · 7 namespaces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083296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7616" y="4041648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187952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226296" y="40965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8357616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GitHub Actions · pytest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Herramientas de trabajo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stack, estas son las herramientas con las que desarrollé, probé, versioné y desplegué el proyecto.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40280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86584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29514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y depuración del código.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15968" y="1965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0288" y="2240280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386584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229514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90288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y repositorio remoto.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83296" y="1965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57616" y="2240280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86584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26296" y="229514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57616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tests y build en cada push.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4251960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398264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43068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22960" y="5074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containerizado en local.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4315968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90288" y="4251960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398264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58968" y="43068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590288" y="5074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manuales de la API REST.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083296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57616" y="4251960"/>
            <a:ext cx="713232" cy="71323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98264"/>
            <a:ext cx="420624" cy="4206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226296" y="43068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Studio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8357616" y="5074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base de datos en la nube.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de ramas — Git 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46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Organicé el versionado en tres niveles para mantener siempre una rama estable y trabajar sin romperla.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4231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6032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4048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00200" y="273405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estable y entregable. Cada versión que se muestra sale de aquí.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502152"/>
            <a:ext cx="566928" cy="566928"/>
          </a:xfrm>
          <a:prstGeom prst="ellipse">
            <a:avLst/>
          </a:prstGeom>
          <a:solidFill>
            <a:srgbClr val="2E6FB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63931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34838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00200" y="38130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de integración: aquí converge el trabajo terminado antes de pasar a main.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68680" y="4581144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71830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5628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feature-sprint2 / sprint3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00200" y="48920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rama por sprint o funcionalidad; al terminar, se fusiona (merge) a develop.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2960" y="5577840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corre en main, develop y ramas de feature. · TW04 — establecido en Sprint 1 y usado en los 3.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223760" y="1691640"/>
            <a:ext cx="4416552" cy="3657600"/>
          </a:xfrm>
          <a:prstGeom prst="roundRect">
            <a:avLst>
              <a:gd name="adj" fmla="val 1500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269480" y="1737360"/>
            <a:ext cx="4325112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24928" y="181965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24" name="Shape 19"/>
          <p:cNvSpPr/>
          <p:nvPr/>
        </p:nvSpPr>
        <p:spPr>
          <a:xfrm>
            <a:off x="7607808" y="181965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25" name="Shape 20"/>
          <p:cNvSpPr/>
          <p:nvPr/>
        </p:nvSpPr>
        <p:spPr>
          <a:xfrm>
            <a:off x="7790688" y="181965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004" y="3154680"/>
            <a:ext cx="512064" cy="5120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06640" y="372160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ramas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315200" y="539496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--graph o la red de ramas en GitHub.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FUNDAMENTOS + CI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— Cimientos técnicos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4630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Sentar las bases del proyecto: arquitectura, modelo de datos, autenticación y pipeline de integración continua.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67665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6700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construí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18211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127248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la arquitectura por capas (Router → Service → Modelo) y monté el repositorio con Git Flow y README.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74904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94176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Diseñé el modelo entidad-relación base: Usuarios, Proyectos y Etapas, normalizado.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159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261104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Implementé autenticación: registro, login, logout, JWT, hashing bcrypt y roles (RBAC).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8828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828032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Protegí rutas y validé entradas; armé el layout base, el menú lateral y el dashboard inicial.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4498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5394960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Configuré el pipeline de CI en GitHub Actions.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7498080" y="2514600"/>
            <a:ext cx="4142232" cy="3429000"/>
          </a:xfrm>
          <a:prstGeom prst="roundRect">
            <a:avLst>
              <a:gd name="adj" fmla="val 21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777240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Retos resueltos</a:t>
            </a:r>
            <a:endParaRPr lang="en-US" sz="17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218688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01584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rota (UTF-16)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7772400" y="35478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fallaba en clones limpios por el encoding; reescribí requirements en UTF-8 y lo validé desde cero.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544568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101584" y="4507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fallaba en silencio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7772400" y="48737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bloqueaba las respuestas (CORS); configuré CORSMiddleware con orígenes controlados.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VALIDACIÓN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— validación y capturas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del Sprint 1: autenticación, navegación protegida y la integración continua en marcha.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6596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04825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04825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04825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7228" y="2368296"/>
            <a:ext cx="512064" cy="5120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2935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login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359359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con validación de campos.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91072" y="192024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36792" y="196596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204825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5120" y="204825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0" y="204825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660" y="2368296"/>
            <a:ext cx="512064" cy="5120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73952" y="2935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inicial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382512" y="359359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base, menú lateral y navegación protegida.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411480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94360" y="416052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9808" y="424281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26" name="Shape 22"/>
          <p:cNvSpPr/>
          <p:nvPr/>
        </p:nvSpPr>
        <p:spPr>
          <a:xfrm>
            <a:off x="932688" y="424281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27" name="Shape 23"/>
          <p:cNvSpPr/>
          <p:nvPr/>
        </p:nvSpPr>
        <p:spPr>
          <a:xfrm>
            <a:off x="1115568" y="424281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228" y="4562856"/>
            <a:ext cx="512064" cy="5120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31520" y="51297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 en verde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40080" y="57881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ejecutando los tests en cada push.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91072" y="411480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336792" y="416052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492240" y="424281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34" name="Shape 29"/>
          <p:cNvSpPr/>
          <p:nvPr/>
        </p:nvSpPr>
        <p:spPr>
          <a:xfrm>
            <a:off x="6675120" y="424281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35" name="Shape 30"/>
          <p:cNvSpPr/>
          <p:nvPr/>
        </p:nvSpPr>
        <p:spPr>
          <a:xfrm>
            <a:off x="6858000" y="424281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4562856"/>
            <a:ext cx="512064" cy="51206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473952" y="51297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ER y repositorio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6382512" y="57881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base y ramas con Git Flow.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MVP — CORE DEL NEGOCIO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— El corazón del negocio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4630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core: el proceso de 5 etapas, la gestión de proyectos, el dashboard dinámico y la trazabilidad.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67665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6700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construí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18211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127248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proyectos: crear, asociar cliente y listar según el rol.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74904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94176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Proceso (CORE): 5 etapas, cambio de estado por el admin, fechas, % de avance e historial.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159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261104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dinámico con datos reales: etapa actual, % de avance y última actualización.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8828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828032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y auditoría (audit_log) de cada cambio relevante.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4498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5394960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 completo y orquestación con Docker Compose; mejoré el pipeline de CI.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7498080" y="2514600"/>
            <a:ext cx="4142232" cy="3429000"/>
          </a:xfrm>
          <a:prstGeom prst="roundRect">
            <a:avLst>
              <a:gd name="adj" fmla="val 21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777240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Retos resueltos</a:t>
            </a:r>
            <a:endParaRPr lang="en-US" sz="17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218688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01584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archivo .env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7772400" y="354787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usaba SQLite cuando creía usar Supabase; unifiqué la configuración y documenté su precedencia para que el error no se repitiera.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VALIDACIÓN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— validación y capturas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del Sprint 2: el proceso de 5 etapas, el dashboard con datos reales y el entorno containerizado.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6596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04825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04825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04825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7228" y="2368296"/>
            <a:ext cx="512064" cy="5120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2935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(admin)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359359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proyectos y asociarlos a cada cliente.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91072" y="192024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36792" y="196596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204825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5120" y="204825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0" y="204825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660" y="2368296"/>
            <a:ext cx="512064" cy="5120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73952" y="2935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etapa del proceso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382512" y="359359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core del negocio: 5 etapas con historial.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411480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94360" y="416052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9808" y="424281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26" name="Shape 22"/>
          <p:cNvSpPr/>
          <p:nvPr/>
        </p:nvSpPr>
        <p:spPr>
          <a:xfrm>
            <a:off x="932688" y="424281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27" name="Shape 23"/>
          <p:cNvSpPr/>
          <p:nvPr/>
        </p:nvSpPr>
        <p:spPr>
          <a:xfrm>
            <a:off x="1115568" y="424281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228" y="4562856"/>
            <a:ext cx="512064" cy="5120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31520" y="51297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cliente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40080" y="57881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avance y etapa actual en tiempo real.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91072" y="411480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336792" y="416052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492240" y="424281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34" name="Shape 29"/>
          <p:cNvSpPr/>
          <p:nvPr/>
        </p:nvSpPr>
        <p:spPr>
          <a:xfrm>
            <a:off x="6675120" y="424281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35" name="Shape 30"/>
          <p:cNvSpPr/>
          <p:nvPr/>
        </p:nvSpPr>
        <p:spPr>
          <a:xfrm>
            <a:off x="6858000" y="424281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4562856"/>
            <a:ext cx="512064" cy="51206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473952" y="51297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6382512" y="57881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base de datos y frontend orquestados.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INTERACCIÓN + 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— Profesionalización y nube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4630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Profesionalizar el producto: documentos, comunicación, responsive, internacionalización y despliegue en la nube.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67665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6700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construí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18211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127248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documental: carga (hasta 10 MB), descarga segura, estados y tipos.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74904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94176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comunicación: chat por proyecto, marcar leídos y notificaciones.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159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261104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ampliado (próxima reunión, último documento, historial) y configuración de perfil.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8828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828032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técnica: diseño responsive, manejo global de errores e i18n (ES/EN/PT).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4498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5394960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PostgreSQL en la nube (Supabase) y despliegue continuo (CD).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7498080" y="2514600"/>
            <a:ext cx="4142232" cy="3429000"/>
          </a:xfrm>
          <a:prstGeom prst="roundRect">
            <a:avLst>
              <a:gd name="adj" fmla="val 21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777240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Retos resueltos</a:t>
            </a:r>
            <a:endParaRPr lang="en-US" sz="17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218688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01584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la nube (UUID)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7772400" y="3547872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incompatibles entre SQLite y Postgres; migración con Alembic y reparación idempotente en el arranque.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102608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101584" y="4066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quemado en español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7772400" y="4431792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internacionalizar; refactor i18n: el backend envía keys + params y el front traduce.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4986528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101584" y="49499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con CVEs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7772400" y="5315712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en el frontend; actualicé los paquetes y verifiqué el build.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VALIDACIÓN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— validación y capturas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del Sprint 3: documentos, mensajería, soporte multiidioma y diseño responsive.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6596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04825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04825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04825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7228" y="2368296"/>
            <a:ext cx="512064" cy="5120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2935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documental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359359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descarga con estados y tipos.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91072" y="192024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36792" y="196596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204825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5120" y="204825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0" y="204825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660" y="2368296"/>
            <a:ext cx="512064" cy="5120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73952" y="2935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por proyecto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382512" y="359359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leídos y notificaciones.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411480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94360" y="416052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9808" y="424281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26" name="Shape 22"/>
          <p:cNvSpPr/>
          <p:nvPr/>
        </p:nvSpPr>
        <p:spPr>
          <a:xfrm>
            <a:off x="932688" y="424281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27" name="Shape 23"/>
          <p:cNvSpPr/>
          <p:nvPr/>
        </p:nvSpPr>
        <p:spPr>
          <a:xfrm>
            <a:off x="1115568" y="424281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228" y="4562856"/>
            <a:ext cx="512064" cy="5120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31520" y="51297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idioma (i18n)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40080" y="57881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/ EN / PT, traducción desacoplada.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91072" y="4114800"/>
            <a:ext cx="5349240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336792" y="416052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492240" y="424281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34" name="Shape 29"/>
          <p:cNvSpPr/>
          <p:nvPr/>
        </p:nvSpPr>
        <p:spPr>
          <a:xfrm>
            <a:off x="6675120" y="424281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35" name="Shape 30"/>
          <p:cNvSpPr/>
          <p:nvPr/>
        </p:nvSpPr>
        <p:spPr>
          <a:xfrm>
            <a:off x="6858000" y="424281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4562856"/>
            <a:ext cx="512064" cy="51206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473952" y="51297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responsive (móvil)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6382512" y="57881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tablet y móvil.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TÉCNICA · SPRINT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PostgreSQL local a Supabase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293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PostgreSQL local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vivía solo en mi equipo (o SQLite en pruebas). No era compartible ni accesible fuera de mi máquina.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0" y="214884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377440"/>
            <a:ext cx="466344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675120" y="1508760"/>
            <a:ext cx="4965192" cy="2148840"/>
          </a:xfrm>
          <a:prstGeom prst="roundRect">
            <a:avLst>
              <a:gd name="adj" fmla="val 340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0" y="17830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993392"/>
            <a:ext cx="329184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2668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— Supabase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949440" y="26060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gestionado en la nube: accesible desde cualquier entorno, con respaldos y un panel de administración.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lo migré</a:t>
            </a:r>
            <a:endParaRPr lang="en-US" sz="16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5354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44897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Supabase vía pooler (rol postgres).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87375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70432" y="4828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del esquema con Alembic.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212080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70432" y="51663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de tipos a UUID (SQLite → Postgres).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550408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70432" y="55046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Reparación idempotente del esquema en el arranque.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263640" y="3886200"/>
            <a:ext cx="5376672" cy="1627632"/>
          </a:xfrm>
          <a:prstGeom prst="roundRect">
            <a:avLst>
              <a:gd name="adj" fmla="val 3371"/>
            </a:avLst>
          </a:prstGeom>
          <a:solidFill>
            <a:srgbClr val="E9EEF6"/>
          </a:solidFill>
          <a:ln w="12700">
            <a:solidFill>
              <a:srgbClr val="BFCBDD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309360" y="3931920"/>
            <a:ext cx="5285232" cy="274320"/>
          </a:xfrm>
          <a:prstGeom prst="roundRect">
            <a:avLst>
              <a:gd name="adj" fmla="val 13333"/>
            </a:avLst>
          </a:prstGeom>
          <a:solidFill>
            <a:srgbClr val="D5DEEB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464808" y="4014216"/>
            <a:ext cx="91440" cy="91440"/>
          </a:xfrm>
          <a:prstGeom prst="ellipse">
            <a:avLst/>
          </a:prstGeom>
          <a:solidFill>
            <a:srgbClr val="DB6A5B"/>
          </a:solidFill>
          <a:ln/>
        </p:spPr>
      </p:sp>
      <p:sp>
        <p:nvSpPr>
          <p:cNvPr id="32" name="Shape 23"/>
          <p:cNvSpPr/>
          <p:nvPr/>
        </p:nvSpPr>
        <p:spPr>
          <a:xfrm>
            <a:off x="6647688" y="4014216"/>
            <a:ext cx="91440" cy="91440"/>
          </a:xfrm>
          <a:prstGeom prst="ellipse">
            <a:avLst/>
          </a:prstGeom>
          <a:solidFill>
            <a:srgbClr val="E0B24C"/>
          </a:solidFill>
          <a:ln/>
        </p:spPr>
      </p:sp>
      <p:sp>
        <p:nvSpPr>
          <p:cNvPr id="33" name="Shape 24"/>
          <p:cNvSpPr/>
          <p:nvPr/>
        </p:nvSpPr>
        <p:spPr>
          <a:xfrm>
            <a:off x="6830568" y="4014216"/>
            <a:ext cx="91440" cy="91440"/>
          </a:xfrm>
          <a:prstGeom prst="ellipse">
            <a:avLst/>
          </a:prstGeom>
          <a:solidFill>
            <a:srgbClr val="5FB573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5944" y="4334256"/>
            <a:ext cx="512064" cy="51206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446520" y="4901184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Studio — tablas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6355080" y="5559552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desplegado y gestionado en la nube.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ROL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aporte como practicante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producto desarrollado por mí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840480"/>
            <a:ext cx="2468880" cy="0"/>
          </a:xfrm>
          <a:prstGeom prst="line">
            <a:avLst/>
          </a:prstGeom>
          <a:noFill/>
          <a:ln w="12700">
            <a:solidFill>
              <a:srgbClr val="3A53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de 76 commits
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y facilitador de los 3 sprints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0" y="1600200"/>
            <a:ext cx="75255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06440" y="1764792"/>
            <a:ext cx="0" cy="493776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(11 routers, 13 modelos) y frontend (15 páginas) completos.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2496312"/>
            <a:ext cx="75255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0" y="25877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06440" y="2660904"/>
            <a:ext cx="0" cy="493776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58775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por capas y el i18n desacoplado backend↔frontend.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0" y="3392424"/>
            <a:ext cx="75255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43400" y="34838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Desplegué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06440" y="3557016"/>
            <a:ext cx="0" cy="493776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4838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Containerización con Docker y migración a Postgres en la nube.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0" y="4288536"/>
            <a:ext cx="75255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43400" y="437997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806440" y="4453128"/>
            <a:ext cx="0" cy="493776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437997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multiidioma (no comprometido) y el Sprint 4 de robustez.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0" y="5184648"/>
            <a:ext cx="75255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43400" y="52760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Documenté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806440" y="5349240"/>
            <a:ext cx="0" cy="493776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52760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fuente de verdad, reportes de sprint y guías técnicas.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Competencias desarrolladas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5321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476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Técnicas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 FastAPI e inyección de dependencias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datos, SQLAlchemy, Alembic y Postgres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hooks, Context y consumo de APIs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JWT, bcrypt, RBAC, validación de subidas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CI/CD con GitHub Actions y testing con pytest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 e internacionalización de extremo a extremo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376672" cy="4389120"/>
          </a:xfrm>
          <a:prstGeom prst="roundRect">
            <a:avLst>
              <a:gd name="adj" fmla="val 166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4767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Profesionales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29400" y="251460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planning, review y retrospectiva en 3 sprints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y diagnóstico de causa raíz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autónomo de un stack moderno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con audiencias técnicas y de negocio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clara y reproducible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tiempo y entregas en plazo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obtenidos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28416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9856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19856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 auditoría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08192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199632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 (ES/EN/PT)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87968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9408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979408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entregados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109167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703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entregado, verificable</a:t>
            </a:r>
            <a:endParaRPr lang="en-US" sz="1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24528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16152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full-stack funcional con admin y cliente</a:t>
            </a:r>
            <a:endParaRPr lang="en-US" sz="12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224528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56832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tests automatizados con gate de cobertura en CI</a:t>
            </a:r>
            <a:endParaRPr lang="en-US" sz="12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54880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16152" y="47365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Containerización completa: docker compose up levanta todo</a:t>
            </a:r>
            <a:endParaRPr lang="en-US" sz="12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75488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56832" y="47365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 sobre PostgreSQL gestionado (Supabase)</a:t>
            </a:r>
            <a:endParaRPr lang="en-US" sz="12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85232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16152" y="52669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que valida cada push (tests + build)</a:t>
            </a:r>
            <a:endParaRPr lang="en-US" sz="12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5285232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56832" y="52669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que hace el proyecto reproducible por terceros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Lecciones aprendidas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920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claros aceleran todo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en entender el problema al inicio evita retrabajo después.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1645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19659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1031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1920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portabilidad se prueba clonando limpio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 en mi máquina" no es suficiente: lo validé desde cero.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519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069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mientras se desarrolla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1248" y="4892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más eficiente y preciso que documentar al final.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53912" y="37947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28232" y="41148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2519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51192" y="4069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la deuda técnica es madurez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46520" y="4892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mi propio trabajo y priorizar mejoras (Sprint 4).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Optimixage · Práctica Profesional de Ingeniería de Software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Aproveché la práctica para entregar valor real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8541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488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Llevé un producto de cero a una plataforma full-stack funcional, segura y desplegada.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378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8072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 el desarrollador principal (72/76 commits) y responsable de los 3 sprints.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0215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346557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Resolví problemas reales de integración, configuración, portabilidad y seguridad.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1239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Aporté valor extra por iniciativa propia (internacionalización en 3 idiomas).</a:t>
            </a:r>
            <a:endParaRPr lang="en-US" sz="1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818888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5880" y="47823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Conozco la deuda técnica del sistema y la tengo priorizada como siguiente fase.</a:t>
            </a:r>
            <a:endParaRPr lang="en-US" sz="1550" dirty="0"/>
          </a:p>
        </p:txBody>
      </p:sp>
      <p:sp>
        <p:nvSpPr>
          <p:cNvPr id="16" name="Shape 9"/>
          <p:cNvSpPr/>
          <p:nvPr/>
        </p:nvSpPr>
        <p:spPr>
          <a:xfrm>
            <a:off x="822960" y="55321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2355B"/>
          </a:solidFill>
          <a:ln/>
        </p:spPr>
      </p:sp>
      <p:sp>
        <p:nvSpPr>
          <p:cNvPr id="17" name="Text 10"/>
          <p:cNvSpPr/>
          <p:nvPr/>
        </p:nvSpPr>
        <p:spPr>
          <a:xfrm>
            <a:off x="1097280" y="5532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aprender tecnologías a entregar un producto de extremo a extremo — listo para desempeñarme como ingeniero de software.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474720"/>
            <a:ext cx="5029200" cy="5029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4" name="Shape 2"/>
          <p:cNvSpPr/>
          <p:nvPr/>
        </p:nvSpPr>
        <p:spPr>
          <a:xfrm>
            <a:off x="5449824" y="1828800"/>
            <a:ext cx="1280160" cy="12801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16712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Wbeimar  ·  wbeimar224@gmail.com  ·  Práctica Profesional — Optimixage S.A.S.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Sustentación Práctica Profesional — Optimixage</dc:title>
  <dc:subject>PptxGenJS Presentation</dc:subject>
  <dc:creator>Wbeimar</dc:creator>
  <cp:lastModifiedBy>Wbeimar</cp:lastModifiedBy>
  <cp:revision>1</cp:revision>
  <dcterms:created xsi:type="dcterms:W3CDTF">2026-06-02T18:31:40Z</dcterms:created>
  <dcterms:modified xsi:type="dcterms:W3CDTF">2026-06-02T18:31:40Z</dcterms:modified>
</cp:coreProperties>
</file>